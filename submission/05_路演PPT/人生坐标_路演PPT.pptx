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，年轻人面对的不是没有选择，而是选择越来越多、信息越来越多，却越来越不敢做决定。人生坐标想解决的，不是替用户给出一个标准答案，而是从他的真实处境出发，找到一条暂时更清晰、同时允许其他可能继续存在的路，并把下一步变成可以验证的行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个大四学生的选择，往往被长期意愿、当前能力、城市去留、收入压力和可投入的试错时间同时拉扯。传统职业测评更擅长回答“你像谁”，但现实决策真正需要回答的是：在这些约束共同存在的此刻，哪条路真的走得通。我们因此把问题从标签识别，转向具体处境中的动态决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不相信任何系统能一次把人生算对。更现实的目标，是让用户在一次次体验和判断中，持续减少不确定性。这个过程坚持三件事：理解自己、尊重现实、用行动验证；每一次新证据，都能推动下一次判断更接近真实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人生坐标面向高中毕业到大学毕业初期的年轻人，把规划拆成一个可以循环的产品旅程。系统先了解用户的处境，生成一份允许纠正的画像；再让多个模型独立规划，比较路线和成立条件；最后落到一件具体的小事，并用真实体验更新下一轮判断。最重要的不是最后一句建议，而是整个过程始终允许用户纠正，并且最终回到行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表面上会问“我到底应该选哪个方向”，但真正卡住他的，常常不是缺少选项，而是没有说清愿意承担什么代价。以这个大四学生为例，系统从多个兴趣方向和尚未澄清的现实边界中，进一步识别出核心冲突：他愿意为长期成长，承担多少短期不确定性。城市、收入窗口和可试错时间，都会改变这个问题的答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有一个关键区别。传统方式是模型做出判断，用户被动接受；人生坐标则把模型的输出当作假设，让用户确认、否定或补充，再进入下一阶段。用户可以直接指出“这很像我”“这不像我”或补充遗漏的信息。事实与人工智能推断会分开保存，因此系统能够被纠正，而不是把一次推断永久写成用户的标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画像被用户确认后，我们让三类模型基于同一份输入分别完成规划，而且在这一阶段互不影响。这样做不是为了简单投票，而是为了保留不同模型真正有价值的分歧。只有至少两份完整且有效的规划，才会进入决策层，由 Decision AI 比较现实边界、可行性、风险与长期价值，形成综合判断。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终呈现的不是一个容易过期的答案，而是一份个人地形册。它会区分建议先探索的路线、仍然值得保留的可能，以及需要先核实的条件。用户不仅能看到为什么现在适合、需要付出什么，还能看到哪些条件变化会让另一条路线更值得选择，例如是否能够接受外地发展。路线会变化，但路线与条件之间的关系可以长期积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规划的最后一步不是做决定，而是设计一件足够小、通常两小时左右、却能带来新证据的事。行动完成后，系统只追问三个问题：你最愿意继续哪一部分，哪里真正卡住了，以及你是否愿意再做一次。建议、行动、反馈和下一版建议由此形成闭环，让用户用真实体验更新判断，而不是停留在想象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这套核心闭环已经在可运行的网页最小可行产品中打通。浏览器请求经过 Cloudflare Worker，进入画像引擎、三个独立规划器，再由决策层生成结果并保存第一版状态。仓库当前记录的五十六项回归测试全部通过；模型密钥不暴露在前端，输出同时经过结构和业务校验，如果有效规划不足两份，系统会停止综合，而不是伪造成功。下一阶段是先验证个人用户闭环，再探索学校生涯教育和就业指导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不替年轻人决定人生，也不承诺一个永远正确的答案。我们希望做的是，让他们看见自己的真实处境，理解每条路线成立的条件，用一次小行动获得新证据，然后找到下一坐标。最终，每一次选择，都比上一次更有依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ife-coordinate-roadsho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ife-coordinate-roadsho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6dcfd7a35d2077.jpg"/>
  <Relationship Id="rId3" Type="http://schemas.openxmlformats.org/officeDocument/2006/relationships/image" Target="../media/image_bfe03588f349e5b0.jpg"/>
  <Relationship Id="rId4" Type="http://schemas.openxmlformats.org/officeDocument/2006/relationships/image" Target="../media/image_4c3edfbbb3cfdfa5.jpg"/>
  <Relationship Id="rId5" Type="http://schemas.openxmlformats.org/officeDocument/2006/relationships/image" Target="../media/image_6ac10f63b0dea5ae.jpg"/>
  <Relationship Id="rId6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fe03588f349e5b0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fe03588f349e5b0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c3edfbbb3cfdfa5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ac10f63b0dea5ae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over-copy"/>
          <p:cNvGrpSpPr/>
          <p:nvPr/>
        </p:nvGrpSpPr>
        <p:grpSpPr>
          <a:xfrm>
            <a:off x="704850" y="714375"/>
            <a:ext cx="4705350" cy="4953381"/>
            <a:chOff x="704850" y="714375"/>
            <a:chExt cx="4705350" cy="4953381"/>
          </a:xfrm>
        </p:grpSpPr>
        <p:sp>
          <p:nvSpPr>
            <p:cNvPr id="2" name="TextBox 2"/>
            <p:cNvSpPr txBox="1"/>
            <p:nvPr/>
          </p:nvSpPr>
          <p:spPr>
            <a:xfrm>
              <a:off x="716280" y="714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人生坐标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723900" y="1104900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850" y="1471612"/>
              <a:ext cx="4705350" cy="2657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CN" sz="5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选择越来越多，</a:t>
              </a:r>
              <a:br/>
              <a:r>
                <a:rPr lang="zh-CN" sz="5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为什么我们反而</a:t>
              </a:r>
              <a:br/>
              <a:r>
                <a:rPr lang="zh-CN" sz="5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越来越不敢选？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1332" y="4573905"/>
              <a:ext cx="34884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从真实处境出发，</a:t>
              </a:r>
              <a:br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找到一个可以验证的下一步。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904" y="5433060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LIFE COORDINATE · PRODUCT PITCH</a:t>
              </a:r>
            </a:p>
          </p:txBody>
        </p:sp>
      </p:grpSp>
      <p:grpSp>
        <p:nvGrpSpPr>
          <p:cNvPr id="22" name="life-route"/>
          <p:cNvGrpSpPr/>
          <p:nvPr/>
        </p:nvGrpSpPr>
        <p:grpSpPr>
          <a:xfrm>
            <a:off x="6286500" y="266700"/>
            <a:ext cx="5124450" cy="5695950"/>
            <a:chOff x="6286500" y="266700"/>
            <a:chExt cx="5124450" cy="5695950"/>
          </a:xfrm>
        </p:grpSpPr>
        <p:sp>
          <p:nvSpPr>
            <p:cNvPr id="8" name="Freeform 8"/>
            <p:cNvSpPr/>
            <p:nvPr/>
          </p:nvSpPr>
          <p:spPr>
            <a:xfrm>
              <a:off x="6534150" y="2305050"/>
              <a:ext cx="2324100" cy="2800350"/>
            </a:xfrm>
            <a:custGeom>
              <a:avLst/>
              <a:gdLst/>
              <a:ahLst/>
              <a:cxnLst/>
              <a:rect l="l" t="t" r="r" b="b"/>
              <a:pathLst>
                <a:path w="2324100" h="2800350">
                  <a:moveTo>
                    <a:pt x="0" y="2800350"/>
                  </a:moveTo>
                  <a:cubicBezTo>
                    <a:pt x="628650" y="2400300"/>
                    <a:pt x="942975" y="2171700"/>
                    <a:pt x="1409700" y="1600200"/>
                  </a:cubicBezTo>
                  <a:cubicBezTo>
                    <a:pt x="1800225" y="1123950"/>
                    <a:pt x="2076450" y="571500"/>
                    <a:pt x="2324100" y="0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943850" y="3905250"/>
              <a:ext cx="3200400" cy="895350"/>
            </a:xfrm>
            <a:custGeom>
              <a:avLst/>
              <a:gdLst/>
              <a:ahLst/>
              <a:cxnLst/>
              <a:rect l="l" t="t" r="r" b="b"/>
              <a:pathLst>
                <a:path w="3200400" h="895350">
                  <a:moveTo>
                    <a:pt x="0" y="0"/>
                  </a:moveTo>
                  <a:cubicBezTo>
                    <a:pt x="914400" y="190500"/>
                    <a:pt x="1752600" y="571500"/>
                    <a:pt x="3200400" y="89535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66667" sp="266667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8191500" y="1600200"/>
              <a:ext cx="2762250" cy="1962150"/>
            </a:xfrm>
            <a:custGeom>
              <a:avLst/>
              <a:gdLst/>
              <a:ahLst/>
              <a:cxnLst/>
              <a:rect l="l" t="t" r="r" b="b"/>
              <a:pathLst>
                <a:path w="2762250" h="1962150">
                  <a:moveTo>
                    <a:pt x="0" y="1962150"/>
                  </a:moveTo>
                  <a:cubicBezTo>
                    <a:pt x="762000" y="1543050"/>
                    <a:pt x="1771650" y="933450"/>
                    <a:pt x="2762250" y="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  <a:custDash>
                <a:ds d="266667" sp="266667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6896100" y="5657850"/>
              <a:ext cx="4457700" cy="304800"/>
            </a:xfrm>
            <a:custGeom>
              <a:avLst/>
              <a:gdLst/>
              <a:ahLst/>
              <a:cxnLst/>
              <a:rect l="l" t="t" r="r" b="b"/>
              <a:pathLst>
                <a:path w="4457700" h="304800">
                  <a:moveTo>
                    <a:pt x="0" y="38100"/>
                  </a:moveTo>
                  <a:cubicBezTo>
                    <a:pt x="952500" y="209550"/>
                    <a:pt x="2085975" y="304800"/>
                    <a:pt x="4457700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010400" y="838200"/>
              <a:ext cx="3086100" cy="4495800"/>
            </a:xfrm>
            <a:custGeom>
              <a:avLst/>
              <a:gdLst/>
              <a:ahLst/>
              <a:cxnLst/>
              <a:rect l="l" t="t" r="r" b="b"/>
              <a:pathLst>
                <a:path w="3086100" h="4495800">
                  <a:moveTo>
                    <a:pt x="0" y="4495800"/>
                  </a:moveTo>
                  <a:cubicBezTo>
                    <a:pt x="647700" y="3790950"/>
                    <a:pt x="723900" y="2457450"/>
                    <a:pt x="419100" y="1200150"/>
                  </a:cubicBezTo>
                  <a:cubicBezTo>
                    <a:pt x="228600" y="419100"/>
                    <a:pt x="704850" y="0"/>
                    <a:pt x="1447800" y="38100"/>
                  </a:cubicBezTo>
                  <a:cubicBezTo>
                    <a:pt x="2628900" y="95250"/>
                    <a:pt x="3086100" y="952500"/>
                    <a:pt x="2857500" y="1885950"/>
                  </a:cubicBezTo>
                </a:path>
              </a:pathLst>
            </a:custGeom>
            <a:noFill/>
            <a:ln w="19050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496050" y="266700"/>
              <a:ext cx="4914900" cy="5638800"/>
            </a:xfrm>
            <a:custGeom>
              <a:avLst/>
              <a:gdLst/>
              <a:ahLst/>
              <a:cxnLst/>
              <a:rect l="l" t="t" r="r" b="b"/>
              <a:pathLst>
                <a:path w="4914900" h="5638800">
                  <a:moveTo>
                    <a:pt x="0" y="5638800"/>
                  </a:moveTo>
                  <a:cubicBezTo>
                    <a:pt x="704850" y="5105400"/>
                    <a:pt x="800100" y="3943350"/>
                    <a:pt x="495300" y="2914650"/>
                  </a:cubicBezTo>
                  <a:cubicBezTo>
                    <a:pt x="152400" y="1790700"/>
                    <a:pt x="571500" y="876300"/>
                    <a:pt x="1581150" y="514350"/>
                  </a:cubicBezTo>
                  <a:cubicBezTo>
                    <a:pt x="3009900" y="0"/>
                    <a:pt x="4552950" y="914400"/>
                    <a:pt x="4762500" y="2419350"/>
                  </a:cubicBezTo>
                  <a:cubicBezTo>
                    <a:pt x="4914900" y="3524250"/>
                    <a:pt x="4286250" y="4724400"/>
                    <a:pt x="3352800" y="5391150"/>
                  </a:cubicBezTo>
                </a:path>
              </a:pathLst>
            </a:custGeom>
            <a:noFill/>
            <a:ln w="19050">
              <a:solidFill>
                <a:schemeClr val="accent1">
                  <a:alpha val="22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6410325" y="49815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4857750"/>
              <a:ext cx="495300" cy="495300"/>
            </a:xfrm>
            <a:prstGeom prst="ellipse">
              <a:avLst/>
            </a:prstGeom>
            <a:noFill/>
            <a:ln w="19050">
              <a:solidFill>
                <a:schemeClr val="accent2">
                  <a:alpha val="45000"/>
                </a:schemeClr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763000" y="22098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068050" y="4724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877550" y="1524000"/>
              <a:ext cx="152400" cy="15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3180" y="5381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22842" y="2064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一条暂时更清晰的路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992" y="5073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仍然保留的可能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503872"/>
            <a:ext cx="10837926" cy="674751"/>
            <a:chOff x="668274" y="503872"/>
            <a:chExt cx="10837926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503872"/>
              <a:ext cx="886815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真正拉扯一个人的，是很多件事同时发生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162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8" name="forces-map"/>
          <p:cNvGrpSpPr/>
          <p:nvPr/>
        </p:nvGrpSpPr>
        <p:grpSpPr>
          <a:xfrm>
            <a:off x="974598" y="1485900"/>
            <a:ext cx="10360152" cy="3486150"/>
            <a:chOff x="974598" y="1485900"/>
            <a:chExt cx="10360152" cy="3486150"/>
          </a:xfrm>
        </p:grpSpPr>
        <p:sp>
          <p:nvSpPr>
            <p:cNvPr id="5" name="Ellipse 5"/>
            <p:cNvSpPr/>
            <p:nvPr/>
          </p:nvSpPr>
          <p:spPr>
            <a:xfrm>
              <a:off x="5257800" y="2638425"/>
              <a:ext cx="1676400" cy="1676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972050" y="2352675"/>
              <a:ext cx="2247900" cy="22479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84520" y="3219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6F4EE"/>
                  </a:solidFill>
                  <a:latin typeface="+mn-lt"/>
                  <a:ea typeface="+mn-ea"/>
                  <a:cs typeface="+mn-cs"/>
                </a:rPr>
                <a:t>示例人物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357622" y="3496628"/>
              <a:ext cx="14767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CFCFA"/>
                  </a:solidFill>
                  <a:latin typeface="+mj-lt"/>
                  <a:ea typeface="+mj-ea"/>
                  <a:cs typeface="+mj-cs"/>
                </a:rPr>
                <a:t>大四学生</a:t>
              </a:r>
            </a:p>
          </p:txBody>
        </p:sp>
        <p:sp>
          <p:nvSpPr>
            <p:cNvPr id="9" name="Line 9"/>
            <p:cNvSpPr/>
            <p:nvPr/>
          </p:nvSpPr>
          <p:spPr>
            <a:xfrm flipH="1" flipV="1">
              <a:off x="3124200" y="2305050"/>
              <a:ext cx="2133600" cy="8382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H="1">
              <a:off x="3086100" y="3790950"/>
              <a:ext cx="2247900" cy="7239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6096000" y="1790700"/>
              <a:ext cx="1" cy="8382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 flipV="1">
              <a:off x="6934200" y="2305050"/>
              <a:ext cx="2152650" cy="8382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6858000" y="3790950"/>
              <a:ext cx="2286000" cy="7239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66800" y="1847850"/>
              <a:ext cx="2381250" cy="876300"/>
            </a:xfrm>
            <a:prstGeom prst="roundRect">
              <a:avLst>
                <a:gd name="adj" fmla="val 1521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5945" y="2047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长期意愿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598" y="2306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我愿意长期做什么？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095750"/>
              <a:ext cx="2571750" cy="876300"/>
            </a:xfrm>
            <a:prstGeom prst="roundRect">
              <a:avLst>
                <a:gd name="adj" fmla="val 1521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64995" y="4295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6350" y="45548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我现在会什么？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810125" y="1485900"/>
              <a:ext cx="2571750" cy="704850"/>
            </a:xfrm>
            <a:prstGeom prst="roundRect">
              <a:avLst>
                <a:gd name="adj" fmla="val 18919"/>
              </a:avLst>
            </a:prstGeom>
            <a:solidFill>
              <a:srgbClr val="E7EDE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389120" y="169735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我还能投入多少时间试错？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43950" y="1847850"/>
              <a:ext cx="2495550" cy="876300"/>
            </a:xfrm>
            <a:prstGeom prst="roundRect">
              <a:avLst>
                <a:gd name="adj" fmla="val 1521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80245" y="2047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城市选择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8898" y="2306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我要不要离开这里？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648700" y="4095750"/>
              <a:ext cx="2686050" cy="876300"/>
            </a:xfrm>
            <a:prstGeom prst="roundRect">
              <a:avLst>
                <a:gd name="adj" fmla="val 15217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580245" y="4295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现实压力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8898" y="45548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我有没有收入压力？</a:t>
              </a:r>
            </a:p>
          </p:txBody>
        </p:sp>
      </p:grpSp>
      <p:grpSp>
        <p:nvGrpSpPr>
          <p:cNvPr id="31" name="bottom-takeaway"/>
          <p:cNvGrpSpPr/>
          <p:nvPr/>
        </p:nvGrpSpPr>
        <p:grpSpPr>
          <a:xfrm>
            <a:off x="1047750" y="5734050"/>
            <a:ext cx="10096500" cy="723900"/>
            <a:chOff x="1047750" y="5734050"/>
            <a:chExt cx="10096500" cy="723900"/>
          </a:xfrm>
        </p:grpSpPr>
        <p:sp>
          <p:nvSpPr>
            <p:cNvPr id="29" name="Rectangle 29"/>
            <p:cNvSpPr/>
            <p:nvPr/>
          </p:nvSpPr>
          <p:spPr>
            <a:xfrm>
              <a:off x="1047750" y="5734050"/>
              <a:ext cx="10096500" cy="723900"/>
            </a:xfrm>
            <a:prstGeom prst="roundRect">
              <a:avLst>
                <a:gd name="adj" fmla="val 18421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816532" y="5964555"/>
              <a:ext cx="85589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职业测评回答“你像谁”，现实选择需要回答“哪条路现在真的走得通”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ro-statement"/>
          <p:cNvGrpSpPr/>
          <p:nvPr/>
        </p:nvGrpSpPr>
        <p:grpSpPr>
          <a:xfrm>
            <a:off x="1852422" y="1093470"/>
            <a:ext cx="8487156" cy="2040255"/>
            <a:chOff x="1852422" y="1093470"/>
            <a:chExt cx="8487156" cy="2040255"/>
          </a:xfrm>
        </p:grpSpPr>
        <p:sp>
          <p:nvSpPr>
            <p:cNvPr id="2" name="TextBox 2"/>
            <p:cNvSpPr txBox="1"/>
            <p:nvPr/>
          </p:nvSpPr>
          <p:spPr>
            <a:xfrm>
              <a:off x="1852422" y="1093470"/>
              <a:ext cx="848715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我们不想一次把人生算对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379470" y="2256472"/>
              <a:ext cx="543306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我们想不断减少不确定性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4857750" y="31242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4" name="validation-path"/>
          <p:cNvGrpSpPr/>
          <p:nvPr/>
        </p:nvGrpSpPr>
        <p:grpSpPr>
          <a:xfrm>
            <a:off x="1383030" y="3771900"/>
            <a:ext cx="9425940" cy="1447800"/>
            <a:chOff x="1383030" y="3771900"/>
            <a:chExt cx="9425940" cy="1447800"/>
          </a:xfrm>
        </p:grpSpPr>
        <p:sp>
          <p:nvSpPr>
            <p:cNvPr id="6" name="Freeform 6"/>
            <p:cNvSpPr/>
            <p:nvPr/>
          </p:nvSpPr>
          <p:spPr>
            <a:xfrm>
              <a:off x="1619250" y="3771900"/>
              <a:ext cx="8915400" cy="1447800"/>
            </a:xfrm>
            <a:custGeom>
              <a:avLst/>
              <a:gdLst/>
              <a:ahLst/>
              <a:cxnLst/>
              <a:rect l="l" t="t" r="r" b="b"/>
              <a:pathLst>
                <a:path w="8915400" h="1447800">
                  <a:moveTo>
                    <a:pt x="0" y="857250"/>
                  </a:moveTo>
                  <a:cubicBezTo>
                    <a:pt x="1619250" y="171450"/>
                    <a:pt x="2743200" y="1447800"/>
                    <a:pt x="4286250" y="704850"/>
                  </a:cubicBezTo>
                  <a:cubicBezTo>
                    <a:pt x="5753100" y="0"/>
                    <a:pt x="6858000" y="990600"/>
                    <a:pt x="8915400" y="285750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619250" y="3943350"/>
              <a:ext cx="4286250" cy="1276350"/>
            </a:xfrm>
            <a:custGeom>
              <a:avLst/>
              <a:gdLst/>
              <a:ahLst/>
              <a:cxnLst/>
              <a:rect l="l" t="t" r="r" b="b"/>
              <a:pathLst>
                <a:path w="4286250" h="1276350">
                  <a:moveTo>
                    <a:pt x="0" y="685800"/>
                  </a:moveTo>
                  <a:cubicBezTo>
                    <a:pt x="1619250" y="0"/>
                    <a:pt x="2743200" y="1276350"/>
                    <a:pt x="4286250" y="533400"/>
                  </a:cubicBezTo>
                </a:path>
              </a:pathLst>
            </a:custGeom>
            <a:noFill/>
            <a:ln w="57150">
              <a:solidFill>
                <a:srgbClr val="646A65"/>
              </a:solidFill>
              <a:custDash>
                <a:ds d="66667" sp="166667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1504950" y="4514850"/>
              <a:ext cx="228600" cy="228600"/>
            </a:xfrm>
            <a:prstGeom prst="ellipse">
              <a:avLst/>
            </a:prstGeom>
            <a:solidFill>
              <a:srgbClr val="646A65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753100" y="43243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382250" y="39052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3030" y="4924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26380" y="4886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一次体验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4080" y="43529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一次新判断</a:t>
              </a:r>
            </a:p>
          </p:txBody>
        </p:sp>
      </p:grpSp>
      <p:grpSp>
        <p:nvGrpSpPr>
          <p:cNvPr id="20" name="principles"/>
          <p:cNvGrpSpPr/>
          <p:nvPr/>
        </p:nvGrpSpPr>
        <p:grpSpPr>
          <a:xfrm>
            <a:off x="2281428" y="5945505"/>
            <a:ext cx="7294245" cy="410718"/>
            <a:chOff x="2281428" y="5945505"/>
            <a:chExt cx="7294245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2281428" y="59455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理解自己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667250" y="6029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9928" y="59455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尊重现实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29500" y="6029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40827" y="59455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用行动验证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465772"/>
            <a:ext cx="5614988" cy="865823"/>
            <a:chOff x="668274" y="465772"/>
            <a:chExt cx="5614988" cy="865823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65772"/>
              <a:ext cx="347014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这就是人生坐标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8180" y="1038225"/>
              <a:ext cx="5605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面向高中毕业到大学毕业初期年轻人的 AI 学业 / 职业规划工具</a:t>
              </a:r>
            </a:p>
          </p:txBody>
        </p:sp>
      </p:grpSp>
      <p:grpSp>
        <p:nvGrpSpPr>
          <p:cNvPr id="34" name="product-journey"/>
          <p:cNvGrpSpPr/>
          <p:nvPr/>
        </p:nvGrpSpPr>
        <p:grpSpPr>
          <a:xfrm>
            <a:off x="800100" y="1485900"/>
            <a:ext cx="10572750" cy="4533900"/>
            <a:chOff x="800100" y="1485900"/>
            <a:chExt cx="10572750" cy="4533900"/>
          </a:xfrm>
        </p:grpSpPr>
        <p:sp>
          <p:nvSpPr>
            <p:cNvPr id="5" name="Freeform 5"/>
            <p:cNvSpPr/>
            <p:nvPr/>
          </p:nvSpPr>
          <p:spPr>
            <a:xfrm>
              <a:off x="1066800" y="2647950"/>
              <a:ext cx="10039350" cy="1352550"/>
            </a:xfrm>
            <a:custGeom>
              <a:avLst/>
              <a:gdLst/>
              <a:ahLst/>
              <a:cxnLst/>
              <a:rect l="l" t="t" r="r" b="b"/>
              <a:pathLst>
                <a:path w="10039350" h="1352550">
                  <a:moveTo>
                    <a:pt x="0" y="800100"/>
                  </a:moveTo>
                  <a:cubicBezTo>
                    <a:pt x="1657350" y="0"/>
                    <a:pt x="2876550" y="361950"/>
                    <a:pt x="4114800" y="781050"/>
                  </a:cubicBezTo>
                  <a:cubicBezTo>
                    <a:pt x="5638800" y="1295400"/>
                    <a:pt x="7086600" y="1352550"/>
                    <a:pt x="10039350" y="24765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custDash>
                <a:ds d="200000" sp="200000"/>
              </a:custDash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00100" y="1676400"/>
              <a:ext cx="2514600" cy="2241423"/>
              <a:chOff x="800100" y="1676400"/>
              <a:chExt cx="2514600" cy="2241423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800100" y="1676400"/>
                <a:ext cx="251460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  <a:effectLst>
                <a:outerShdw blurRad="152400" dist="57150" dir="5400000" algn="ctr" rotWithShape="0">
                  <a:srgbClr val="000000">
                    <a:alpha val="6750"/>
                  </a:srgbClr>
                </a:outerShdw>
              </a:effectLst>
            </p:spPr>
          </p:sp>
          <p:pic>
            <p:nvPicPr>
              <p:cNvPr id="7" name="Image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4400" y="1790700"/>
                <a:ext cx="2286000" cy="1524000"/>
              </a:xfrm>
              <a:prstGeom prst="rect">
                <a:avLst/>
              </a:prstGeom>
            </p:spPr>
          </p:pic>
          <p:sp>
            <p:nvSpPr>
              <p:cNvPr id="8" name="Ellipse 8"/>
              <p:cNvSpPr/>
              <p:nvPr/>
            </p:nvSpPr>
            <p:spPr>
              <a:xfrm>
                <a:off x="933450" y="34861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80665" y="357187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79982" y="3507105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认识处境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562350" y="2266950"/>
              <a:ext cx="2514600" cy="2241423"/>
              <a:chOff x="3562350" y="2266950"/>
              <a:chExt cx="2514600" cy="2241423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562350" y="2266950"/>
                <a:ext cx="251460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  <a:effectLst>
                <a:outerShdw blurRad="152400" dist="57150" dir="5400000" algn="ctr" rotWithShape="0">
                  <a:srgbClr val="000000">
                    <a:alpha val="6750"/>
                  </a:srgbClr>
                </a:outerShdw>
              </a:effectLst>
            </p:spPr>
          </p:sp>
          <p:pic>
            <p:nvPicPr>
              <p:cNvPr id="13" name="Image 1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6650" y="2381250"/>
                <a:ext cx="2286000" cy="1524000"/>
              </a:xfrm>
              <a:prstGeom prst="rect">
                <a:avLst/>
              </a:prstGeom>
            </p:spPr>
          </p:pic>
          <p:sp>
            <p:nvSpPr>
              <p:cNvPr id="14" name="Ellipse 14"/>
              <p:cNvSpPr/>
              <p:nvPr/>
            </p:nvSpPr>
            <p:spPr>
              <a:xfrm>
                <a:off x="3714750" y="40767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761965" y="41624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CFCFA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161282" y="409765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可纠正画像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324600" y="2190750"/>
              <a:ext cx="2599182" cy="2241423"/>
              <a:chOff x="6324600" y="2190750"/>
              <a:chExt cx="2599182" cy="2241423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324600" y="2190750"/>
                <a:ext cx="2514600" cy="1676400"/>
              </a:xfrm>
              <a:prstGeom prst="roundRect">
                <a:avLst>
                  <a:gd name="adj" fmla="val 7955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  <a:effectLst>
                <a:outerShdw blurRad="152400" dist="57150" dir="5400000" algn="ctr" rotWithShape="0">
                  <a:srgbClr val="000000">
                    <a:alpha val="6750"/>
                  </a:srgbClr>
                </a:outerShdw>
              </a:effectLst>
            </p:spPr>
          </p:sp>
          <p:pic>
            <p:nvPicPr>
              <p:cNvPr id="19" name="Image 1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8900" y="2305050"/>
                <a:ext cx="2286000" cy="1524000"/>
              </a:xfrm>
              <a:prstGeom prst="rect">
                <a:avLst/>
              </a:prstGeom>
            </p:spPr>
          </p:pic>
          <p:sp>
            <p:nvSpPr>
              <p:cNvPr id="20" name="Ellipse 20"/>
              <p:cNvSpPr/>
              <p:nvPr/>
            </p:nvSpPr>
            <p:spPr>
              <a:xfrm>
                <a:off x="6477000" y="400050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524215" y="408622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CFCFA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23532" y="4021455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比较路线与条件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086850" y="1485900"/>
              <a:ext cx="2286000" cy="2089023"/>
              <a:chOff x="9086850" y="1485900"/>
              <a:chExt cx="2286000" cy="2089023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9086850" y="1485900"/>
                <a:ext cx="2286000" cy="1524000"/>
              </a:xfrm>
              <a:prstGeom prst="roundRect">
                <a:avLst>
                  <a:gd name="adj" fmla="val 8750"/>
                </a:avLst>
              </a:prstGeom>
              <a:solidFill>
                <a:srgbClr val="FFFFFF"/>
              </a:solidFill>
              <a:ln w="9525">
                <a:solidFill>
                  <a:schemeClr val="accent6"/>
                </a:solidFill>
              </a:ln>
              <a:effectLst>
                <a:outerShdw blurRad="152400" dist="57150" dir="5400000" algn="ctr" rotWithShape="0">
                  <a:srgbClr val="000000">
                    <a:alpha val="6750"/>
                  </a:srgbClr>
                </a:outerShdw>
              </a:effectLst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01150" y="1600200"/>
                <a:ext cx="2057400" cy="1371600"/>
              </a:xfrm>
              <a:prstGeom prst="rect">
                <a:avLst/>
              </a:prstGeom>
            </p:spPr>
          </p:pic>
          <p:sp>
            <p:nvSpPr>
              <p:cNvPr id="26" name="Ellipse 26"/>
              <p:cNvSpPr/>
              <p:nvPr/>
            </p:nvSpPr>
            <p:spPr>
              <a:xfrm>
                <a:off x="9239250" y="31432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286465" y="3228975"/>
                <a:ext cx="2484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85782" y="3164205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做一件小事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450080" y="48482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多模型独立规划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4780" y="4905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用真实体验更新判断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981200" y="5391150"/>
              <a:ext cx="8229600" cy="628650"/>
            </a:xfrm>
            <a:prstGeom prst="roundRect">
              <a:avLst>
                <a:gd name="adj" fmla="val 21212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844802" y="5564505"/>
              <a:ext cx="85023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最重要的不是最后一句建议，而是每一步都允许纠正，并且回到行动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465772"/>
            <a:ext cx="10005822" cy="1227201"/>
            <a:chOff x="668274" y="465772"/>
            <a:chExt cx="10005822" cy="1227201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65772"/>
              <a:ext cx="5292852" cy="12272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你以为自己在选岗位，</a:t>
              </a:r>
              <a:br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系统先找出你真正卡在哪里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33118" y="708660"/>
              <a:ext cx="1640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示例人物 / 产品 Demo</a:t>
              </a:r>
            </a:p>
          </p:txBody>
        </p:sp>
      </p:grpSp>
      <p:grpSp>
        <p:nvGrpSpPr>
          <p:cNvPr id="9" name="surface-question"/>
          <p:cNvGrpSpPr/>
          <p:nvPr/>
        </p:nvGrpSpPr>
        <p:grpSpPr>
          <a:xfrm>
            <a:off x="687324" y="2200275"/>
            <a:ext cx="2916984" cy="2731770"/>
            <a:chOff x="687324" y="2200275"/>
            <a:chExt cx="2916984" cy="2731770"/>
          </a:xfrm>
        </p:grpSpPr>
        <p:sp>
          <p:nvSpPr>
            <p:cNvPr id="5" name="TextBox 5"/>
            <p:cNvSpPr txBox="1"/>
            <p:nvPr/>
          </p:nvSpPr>
          <p:spPr>
            <a:xfrm>
              <a:off x="697230" y="2200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用户表层问题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04850" y="2571750"/>
              <a:ext cx="2457450" cy="9525"/>
            </a:xfrm>
            <a:custGeom>
              <a:avLst/>
              <a:gdLst/>
              <a:ahLst/>
              <a:cxnLst/>
              <a:rect l="l" t="t" r="r" b="b"/>
              <a:pathLst>
                <a:path w="2457450" h="9525">
                  <a:moveTo>
                    <a:pt x="0" y="0"/>
                  </a:moveTo>
                  <a:lnTo>
                    <a:pt x="2457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7324" y="2847022"/>
              <a:ext cx="2916984" cy="12272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“到底应该</a:t>
              </a:r>
              <a:br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选哪个方向？”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7230" y="4333875"/>
              <a:ext cx="175831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大四 · 多个兴趣方向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现实边界尚未澄清</a:t>
              </a:r>
            </a:p>
          </p:txBody>
        </p:sp>
      </p:grpSp>
      <p:grpSp>
        <p:nvGrpSpPr>
          <p:cNvPr id="16" name="insight-evidence"/>
          <p:cNvGrpSpPr/>
          <p:nvPr/>
        </p:nvGrpSpPr>
        <p:grpSpPr>
          <a:xfrm>
            <a:off x="3943350" y="1885950"/>
            <a:ext cx="7562850" cy="3981450"/>
            <a:chOff x="3943350" y="1885950"/>
            <a:chExt cx="7562850" cy="3981450"/>
          </a:xfrm>
        </p:grpSpPr>
        <p:sp>
          <p:nvSpPr>
            <p:cNvPr id="10" name="Rectangle 10"/>
            <p:cNvSpPr/>
            <p:nvPr/>
          </p:nvSpPr>
          <p:spPr>
            <a:xfrm>
              <a:off x="3943350" y="1885950"/>
              <a:ext cx="7562850" cy="3981450"/>
            </a:xfrm>
            <a:prstGeom prst="roundRect">
              <a:avLst>
                <a:gd name="adj" fmla="val 4306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1950" y="2114550"/>
              <a:ext cx="4343400" cy="289560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7334250" y="3448050"/>
              <a:ext cx="3943350" cy="2190750"/>
            </a:xfrm>
            <a:prstGeom prst="roundRect">
              <a:avLst>
                <a:gd name="adj" fmla="val 695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13142" y="36833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系统理解后的核心冲突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07808" y="4046220"/>
              <a:ext cx="33771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rgbClr val="FCFCFA"/>
                  </a:solidFill>
                  <a:latin typeface="+mj-lt"/>
                  <a:ea typeface="+mj-ea"/>
                  <a:cs typeface="+mj-cs"/>
                </a:rPr>
                <a:t>你愿意为长期成长，</a:t>
              </a:r>
              <a:br/>
              <a:r>
                <a:rPr lang="zh-CN" sz="2400" b="1" dirty="0">
                  <a:solidFill>
                    <a:srgbClr val="FCFCFA"/>
                  </a:solidFill>
                  <a:latin typeface="+mj-lt"/>
                  <a:ea typeface="+mj-ea"/>
                  <a:cs typeface="+mj-cs"/>
                </a:rPr>
                <a:t>承担多少短期不确定性？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12380" y="52292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城市　收入窗口　可试错时间</a:t>
              </a:r>
            </a:p>
          </p:txBody>
        </p:sp>
      </p:grpSp>
      <p:grpSp>
        <p:nvGrpSpPr>
          <p:cNvPr id="20" name="page-footer"/>
          <p:cNvGrpSpPr/>
          <p:nvPr/>
        </p:nvGrpSpPr>
        <p:grpSpPr>
          <a:xfrm>
            <a:off x="679704" y="6191250"/>
            <a:ext cx="10832592" cy="352806"/>
            <a:chOff x="679704" y="6191250"/>
            <a:chExt cx="10832592" cy="352806"/>
          </a:xfrm>
        </p:grpSpPr>
        <p:sp>
          <p:nvSpPr>
            <p:cNvPr id="17" name="Line 17"/>
            <p:cNvSpPr/>
            <p:nvPr/>
          </p:nvSpPr>
          <p:spPr>
            <a:xfrm>
              <a:off x="685800" y="6191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9704" y="630936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好的规划先识别真正的问题，再回答用户提出的问题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22406" y="63093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page-title"/>
          <p:cNvGrpSpPr/>
          <p:nvPr/>
        </p:nvGrpSpPr>
        <p:grpSpPr>
          <a:xfrm>
            <a:off x="668274" y="465772"/>
            <a:ext cx="4854702" cy="1227201"/>
            <a:chOff x="668274" y="465772"/>
            <a:chExt cx="4854702" cy="1227201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65772"/>
              <a:ext cx="4854702" cy="12272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可以推断，</a:t>
              </a:r>
              <a:br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但它不能替用户定义自己</a:t>
              </a:r>
            </a:p>
          </p:txBody>
        </p:sp>
      </p:grpSp>
      <p:grpSp>
        <p:nvGrpSpPr>
          <p:cNvPr id="14" name="comparison-flow"/>
          <p:cNvGrpSpPr/>
          <p:nvPr/>
        </p:nvGrpSpPr>
        <p:grpSpPr>
          <a:xfrm>
            <a:off x="713232" y="2047875"/>
            <a:ext cx="2848356" cy="3774948"/>
            <a:chOff x="713232" y="2047875"/>
            <a:chExt cx="2848356" cy="3774948"/>
          </a:xfrm>
        </p:grpSpPr>
        <p:sp>
          <p:nvSpPr>
            <p:cNvPr id="4" name="TextBox 4"/>
            <p:cNvSpPr txBox="1"/>
            <p:nvPr/>
          </p:nvSpPr>
          <p:spPr>
            <a:xfrm>
              <a:off x="716280" y="2047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传统方式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19350"/>
              <a:ext cx="2667000" cy="552450"/>
            </a:xfrm>
            <a:prstGeom prst="roundRect">
              <a:avLst>
                <a:gd name="adj" fmla="val 24138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81328" y="25546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模型判断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057400" y="3048000"/>
              <a:ext cx="1" cy="3238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3486150"/>
              <a:ext cx="2667000" cy="552450"/>
            </a:xfrm>
            <a:prstGeom prst="roundRect">
              <a:avLst>
                <a:gd name="adj" fmla="val 24138"/>
              </a:avLst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1328" y="36214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用户接受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6280" y="4333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人生坐标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46501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模型提出假设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50311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用户确认、否定或修正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54121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再进入下一阶段</a:t>
              </a:r>
            </a:p>
          </p:txBody>
        </p:sp>
      </p:grpSp>
      <p:grpSp>
        <p:nvGrpSpPr>
          <p:cNvPr id="23" name="profile-proof"/>
          <p:cNvGrpSpPr/>
          <p:nvPr/>
        </p:nvGrpSpPr>
        <p:grpSpPr>
          <a:xfrm>
            <a:off x="4572000" y="1714500"/>
            <a:ext cx="6934200" cy="4362450"/>
            <a:chOff x="4572000" y="1714500"/>
            <a:chExt cx="6934200" cy="4362450"/>
          </a:xfrm>
        </p:grpSpPr>
        <p:sp>
          <p:nvSpPr>
            <p:cNvPr id="15" name="Rectangle 15"/>
            <p:cNvSpPr/>
            <p:nvPr/>
          </p:nvSpPr>
          <p:spPr>
            <a:xfrm>
              <a:off x="4572000" y="1714500"/>
              <a:ext cx="6934200" cy="4286250"/>
            </a:xfrm>
            <a:prstGeom prst="roundRect">
              <a:avLst>
                <a:gd name="adj" fmla="val 4000"/>
              </a:avLst>
            </a:prstGeom>
            <a:solidFill>
              <a:schemeClr val="lt1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6750"/>
                </a:srgbClr>
              </a:outerShdw>
            </a:effectLst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53000" y="1962150"/>
              <a:ext cx="6172200" cy="4114800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5048250" y="4933950"/>
              <a:ext cx="16954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84495" y="5124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这很像我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934200" y="4933950"/>
              <a:ext cx="1695450" cy="5524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70445" y="5124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这不像我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20150" y="4933950"/>
              <a:ext cx="16954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56395" y="5124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我想补充</a:t>
              </a:r>
            </a:p>
          </p:txBody>
        </p:sp>
      </p:grpSp>
      <p:grpSp>
        <p:nvGrpSpPr>
          <p:cNvPr id="26" name="page-footer"/>
          <p:cNvGrpSpPr/>
          <p:nvPr/>
        </p:nvGrpSpPr>
        <p:grpSpPr>
          <a:xfrm>
            <a:off x="679704" y="6328410"/>
            <a:ext cx="10832592" cy="234696"/>
            <a:chOff x="679704" y="6328410"/>
            <a:chExt cx="108325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79704" y="6328410"/>
              <a:ext cx="1887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事实和 AI 推断，分开保存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22406" y="63284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503872"/>
            <a:ext cx="10837926" cy="674751"/>
            <a:chOff x="668274" y="503872"/>
            <a:chExt cx="10837926" cy="674751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503872"/>
              <a:ext cx="716164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我们故意不让三个 AI 先互相影响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85800" y="1162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9" name="decision-system"/>
          <p:cNvGrpSpPr/>
          <p:nvPr/>
        </p:nvGrpSpPr>
        <p:grpSpPr>
          <a:xfrm>
            <a:off x="1314450" y="1657350"/>
            <a:ext cx="9563100" cy="4076700"/>
            <a:chOff x="1314450" y="1657350"/>
            <a:chExt cx="9563100" cy="4076700"/>
          </a:xfrm>
        </p:grpSpPr>
        <p:sp>
          <p:nvSpPr>
            <p:cNvPr id="5" name="Rectangle 5"/>
            <p:cNvSpPr/>
            <p:nvPr/>
          </p:nvSpPr>
          <p:spPr>
            <a:xfrm>
              <a:off x="4152900" y="1657350"/>
              <a:ext cx="3886200" cy="68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954524" y="184975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同一份已确认画像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0" y="23431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2495550" y="26860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495550" y="2686050"/>
              <a:ext cx="1" cy="3619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2686050"/>
              <a:ext cx="1" cy="3619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9696450" y="2686050"/>
              <a:ext cx="1" cy="3619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314450" y="3143250"/>
              <a:ext cx="23622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68397" y="3306128"/>
              <a:ext cx="654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4070" y="3800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独立规划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14900" y="3143250"/>
              <a:ext cx="23622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8182" y="3306128"/>
              <a:ext cx="11356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84520" y="3800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独立规划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515350" y="3143250"/>
              <a:ext cx="23622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79295" y="3306128"/>
              <a:ext cx="1634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84970" y="3800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独立规划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2495550" y="42481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0" y="42481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696450" y="42481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495550" y="4514850"/>
              <a:ext cx="7200900" cy="9525"/>
            </a:xfrm>
            <a:custGeom>
              <a:avLst/>
              <a:gdLst/>
              <a:ahLst/>
              <a:cxnLst/>
              <a:rect l="l" t="t" r="r" b="b"/>
              <a:pathLst>
                <a:path w="7200900" h="9525">
                  <a:moveTo>
                    <a:pt x="0" y="0"/>
                  </a:moveTo>
                  <a:lnTo>
                    <a:pt x="7200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096000" y="4514850"/>
              <a:ext cx="1" cy="24765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52850" y="4857750"/>
              <a:ext cx="4686300" cy="876300"/>
            </a:xfrm>
            <a:prstGeom prst="roundRect">
              <a:avLst>
                <a:gd name="adj" fmla="val 15217"/>
              </a:avLst>
            </a:prstGeom>
            <a:solidFill>
              <a:srgbClr val="E7EDE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23091" y="5012055"/>
              <a:ext cx="1545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Decision AI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1010" y="54006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比较现实边界、可行性、风险与长期价值</a:t>
              </a:r>
            </a:p>
          </p:txBody>
        </p:sp>
      </p:grpSp>
      <p:grpSp>
        <p:nvGrpSpPr>
          <p:cNvPr id="32" name="page-footer"/>
          <p:cNvGrpSpPr/>
          <p:nvPr/>
        </p:nvGrpSpPr>
        <p:grpSpPr>
          <a:xfrm>
            <a:off x="1060704" y="6233160"/>
            <a:ext cx="10070592" cy="234696"/>
            <a:chOff x="1060704" y="6233160"/>
            <a:chExt cx="100705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1060704" y="62331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至少两份不同模型的有效完整规划，才进入综合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7488" y="6233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不是投票，是保留有价值的分歧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446722"/>
            <a:ext cx="8868156" cy="903923"/>
            <a:chOff x="668274" y="446722"/>
            <a:chExt cx="8868156" cy="903923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46722"/>
              <a:ext cx="886815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一个答案会过期，条件与路线的关系不会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8180" y="1057275"/>
              <a:ext cx="54875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个人地形册记录“现在从哪里出发”，也保留条件变化后的可能</a:t>
              </a:r>
            </a:p>
          </p:txBody>
        </p:sp>
      </p:grpSp>
      <p:grpSp>
        <p:nvGrpSpPr>
          <p:cNvPr id="15" name="atlas-visual"/>
          <p:cNvGrpSpPr/>
          <p:nvPr/>
        </p:nvGrpSpPr>
        <p:grpSpPr>
          <a:xfrm>
            <a:off x="685800" y="1714500"/>
            <a:ext cx="7429500" cy="4286250"/>
            <a:chOff x="685800" y="1714500"/>
            <a:chExt cx="7429500" cy="4286250"/>
          </a:xfrm>
        </p:grpSpPr>
        <p:sp>
          <p:nvSpPr>
            <p:cNvPr id="5" name="Rectangle 5"/>
            <p:cNvSpPr/>
            <p:nvPr/>
          </p:nvSpPr>
          <p:spPr>
            <a:xfrm>
              <a:off x="685800" y="1714500"/>
              <a:ext cx="7429500" cy="428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5862" y="1714500"/>
              <a:ext cx="6429375" cy="4286250"/>
            </a:xfrm>
            <a:prstGeom prst="rect">
              <a:avLst/>
            </a:prstGeom>
          </p:spPr>
        </p:pic>
        <p:sp>
          <p:nvSpPr>
            <p:cNvPr id="7" name="Freeform 7"/>
            <p:cNvSpPr/>
            <p:nvPr/>
          </p:nvSpPr>
          <p:spPr>
            <a:xfrm>
              <a:off x="1543050" y="2324100"/>
              <a:ext cx="6096000" cy="3028950"/>
            </a:xfrm>
            <a:custGeom>
              <a:avLst/>
              <a:gdLst/>
              <a:ahLst/>
              <a:cxnLst/>
              <a:rect l="l" t="t" r="r" b="b"/>
              <a:pathLst>
                <a:path w="6096000" h="3028950">
                  <a:moveTo>
                    <a:pt x="0" y="3028950"/>
                  </a:moveTo>
                  <a:cubicBezTo>
                    <a:pt x="1276350" y="2628900"/>
                    <a:pt x="2171700" y="2152650"/>
                    <a:pt x="3257550" y="1733550"/>
                  </a:cubicBezTo>
                  <a:cubicBezTo>
                    <a:pt x="4324350" y="1314450"/>
                    <a:pt x="5105400" y="666750"/>
                    <a:pt x="6096000" y="0"/>
                  </a:cubicBez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009900" y="4724400"/>
              <a:ext cx="4762500" cy="495300"/>
            </a:xfrm>
            <a:custGeom>
              <a:avLst/>
              <a:gdLst/>
              <a:ahLst/>
              <a:cxnLst/>
              <a:rect l="l" t="t" r="r" b="b"/>
              <a:pathLst>
                <a:path w="4762500" h="495300">
                  <a:moveTo>
                    <a:pt x="0" y="95250"/>
                  </a:moveTo>
                  <a:cubicBezTo>
                    <a:pt x="1638300" y="495300"/>
                    <a:pt x="3105150" y="495300"/>
                    <a:pt x="476250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66667" sp="266667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4800600" y="3371850"/>
              <a:ext cx="3009900" cy="685800"/>
            </a:xfrm>
            <a:custGeom>
              <a:avLst/>
              <a:gdLst/>
              <a:ahLst/>
              <a:cxnLst/>
              <a:rect l="l" t="t" r="r" b="b"/>
              <a:pathLst>
                <a:path w="3009900" h="685800">
                  <a:moveTo>
                    <a:pt x="0" y="685800"/>
                  </a:moveTo>
                  <a:cubicBezTo>
                    <a:pt x="1028700" y="514350"/>
                    <a:pt x="2000250" y="342900"/>
                    <a:pt x="300990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66667" sp="266667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390650" y="52006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686300" y="3943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524750" y="2209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43000" y="5467350"/>
              <a:ext cx="1390650" cy="40005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6845" y="557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现在的你</a:t>
              </a:r>
            </a:p>
          </p:txBody>
        </p:sp>
      </p:grpSp>
      <p:grpSp>
        <p:nvGrpSpPr>
          <p:cNvPr id="26" name="route-conditions"/>
          <p:cNvGrpSpPr/>
          <p:nvPr/>
        </p:nvGrpSpPr>
        <p:grpSpPr>
          <a:xfrm>
            <a:off x="8847582" y="2009775"/>
            <a:ext cx="2658618" cy="3970020"/>
            <a:chOff x="8847582" y="2009775"/>
            <a:chExt cx="2658618" cy="3970020"/>
          </a:xfrm>
        </p:grpSpPr>
        <p:sp>
          <p:nvSpPr>
            <p:cNvPr id="16" name="TextBox 16"/>
            <p:cNvSpPr txBox="1"/>
            <p:nvPr/>
          </p:nvSpPr>
          <p:spPr>
            <a:xfrm>
              <a:off x="8850630" y="2009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路线不是永久标签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58250" y="2381250"/>
              <a:ext cx="2647950" cy="9525"/>
            </a:xfrm>
            <a:custGeom>
              <a:avLst/>
              <a:gdLst/>
              <a:ahLst/>
              <a:cxnLst/>
              <a:rect l="l" t="t" r="r" b="b"/>
              <a:pathLst>
                <a:path w="2647950" h="9525">
                  <a:moveTo>
                    <a:pt x="0" y="0"/>
                  </a:moveTo>
                  <a:lnTo>
                    <a:pt x="26479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47582" y="26498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建议先探索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4758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保留的可能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47582" y="35642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先核实条件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858250" y="4210050"/>
              <a:ext cx="2647950" cy="685800"/>
            </a:xfrm>
            <a:prstGeom prst="roundRect">
              <a:avLst>
                <a:gd name="adj" fmla="val 19444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65920" y="4467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如果可以接受外地？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50630" y="5114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为什么现在适合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50630" y="54006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要付出什么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50630" y="56864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什么变化会让它更值得选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322406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668274" y="446722"/>
            <a:ext cx="6414516" cy="1034035"/>
            <a:chOff x="668274" y="446722"/>
            <a:chExt cx="6414516" cy="1034035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46722"/>
              <a:ext cx="641451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规划的最后一步，不是做决定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982028"/>
              <a:ext cx="61920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是做一件足够小、但能带来新证据的事</a:t>
              </a:r>
            </a:p>
          </p:txBody>
        </p:sp>
      </p:grpSp>
      <p:grpSp>
        <p:nvGrpSpPr>
          <p:cNvPr id="9" name="action-proof"/>
          <p:cNvGrpSpPr/>
          <p:nvPr/>
        </p:nvGrpSpPr>
        <p:grpSpPr>
          <a:xfrm>
            <a:off x="685800" y="1695450"/>
            <a:ext cx="6858000" cy="4572000"/>
            <a:chOff x="685800" y="1695450"/>
            <a:chExt cx="6858000" cy="4572000"/>
          </a:xfrm>
        </p:grpSpPr>
        <p:sp>
          <p:nvSpPr>
            <p:cNvPr id="5" name="Rectangle 5"/>
            <p:cNvSpPr/>
            <p:nvPr/>
          </p:nvSpPr>
          <p:spPr>
            <a:xfrm>
              <a:off x="685800" y="1695450"/>
              <a:ext cx="6858000" cy="4572000"/>
            </a:xfrm>
            <a:prstGeom prst="roundRect">
              <a:avLst>
                <a:gd name="adj" fmla="val 3750"/>
              </a:avLst>
            </a:prstGeom>
            <a:solidFill>
              <a:schemeClr val="lt1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6750"/>
                </a:srgbClr>
              </a:outerShdw>
            </a:effectLst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1695450"/>
              <a:ext cx="6858000" cy="4572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971550" y="5219700"/>
              <a:ext cx="1390650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4445" y="538162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2 小时</a:t>
              </a:r>
            </a:p>
          </p:txBody>
        </p:sp>
      </p:grpSp>
      <p:grpSp>
        <p:nvGrpSpPr>
          <p:cNvPr id="23" name="feedback-loop"/>
          <p:cNvGrpSpPr/>
          <p:nvPr/>
        </p:nvGrpSpPr>
        <p:grpSpPr>
          <a:xfrm>
            <a:off x="7895082" y="1933575"/>
            <a:ext cx="3534918" cy="3970020"/>
            <a:chOff x="7895082" y="1933575"/>
            <a:chExt cx="3534918" cy="3970020"/>
          </a:xfrm>
        </p:grpSpPr>
        <p:sp>
          <p:nvSpPr>
            <p:cNvPr id="10" name="TextBox 10"/>
            <p:cNvSpPr txBox="1"/>
            <p:nvPr/>
          </p:nvSpPr>
          <p:spPr>
            <a:xfrm>
              <a:off x="7898130" y="19335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做完以后，系统只问三件事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95082" y="24212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最愿意继续哪部分？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95082" y="28784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哪里卡住了？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95082" y="33356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是否愿意再做一次？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20050" y="3829050"/>
              <a:ext cx="3409950" cy="1924050"/>
            </a:xfrm>
            <a:custGeom>
              <a:avLst/>
              <a:gdLst/>
              <a:ahLst/>
              <a:cxnLst/>
              <a:rect l="l" t="t" r="r" b="b"/>
              <a:pathLst>
                <a:path w="3409950" h="1924050">
                  <a:moveTo>
                    <a:pt x="152400" y="342900"/>
                  </a:moveTo>
                  <a:cubicBezTo>
                    <a:pt x="838200" y="19050"/>
                    <a:pt x="2324100" y="0"/>
                    <a:pt x="2971800" y="438150"/>
                  </a:cubicBezTo>
                  <a:cubicBezTo>
                    <a:pt x="3409950" y="742950"/>
                    <a:pt x="3086100" y="1562100"/>
                    <a:pt x="2171700" y="1714500"/>
                  </a:cubicBezTo>
                  <a:cubicBezTo>
                    <a:pt x="990600" y="1924050"/>
                    <a:pt x="0" y="1504950"/>
                    <a:pt x="133350" y="80010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Ellipse 15"/>
            <p:cNvSpPr/>
            <p:nvPr/>
          </p:nvSpPr>
          <p:spPr>
            <a:xfrm>
              <a:off x="8420100" y="44005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486900" y="40005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687050" y="44196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867900" y="53721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0580" y="4733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45930" y="3781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行动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93680" y="4733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83980" y="5610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下一版建议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22406" y="63284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668274" y="484822"/>
            <a:ext cx="10845546" cy="705803"/>
            <a:chOff x="668274" y="484822"/>
            <a:chExt cx="10845546" cy="705803"/>
          </a:xfrm>
        </p:grpSpPr>
        <p:sp>
          <p:nvSpPr>
            <p:cNvPr id="2" name="TextBox 2"/>
            <p:cNvSpPr txBox="1"/>
            <p:nvPr/>
          </p:nvSpPr>
          <p:spPr>
            <a:xfrm>
              <a:off x="668274" y="484822"/>
              <a:ext cx="494233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核心闭环已经跑起来了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91725" y="695325"/>
              <a:ext cx="152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可运行 Web MVP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181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1" name="system-flow"/>
          <p:cNvGrpSpPr/>
          <p:nvPr/>
        </p:nvGrpSpPr>
        <p:grpSpPr>
          <a:xfrm>
            <a:off x="716280" y="1762125"/>
            <a:ext cx="3131820" cy="3876675"/>
            <a:chOff x="716280" y="1762125"/>
            <a:chExt cx="3131820" cy="3876675"/>
          </a:xfrm>
        </p:grpSpPr>
        <p:sp>
          <p:nvSpPr>
            <p:cNvPr id="6" name="TextBox 6"/>
            <p:cNvSpPr txBox="1"/>
            <p:nvPr/>
          </p:nvSpPr>
          <p:spPr>
            <a:xfrm>
              <a:off x="716280" y="1762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真实系统流转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23900" y="2133600"/>
              <a:ext cx="31242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45554" y="2276475"/>
              <a:ext cx="880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Browser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286000" y="2590800"/>
              <a:ext cx="1" cy="2095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3900" y="2895600"/>
              <a:ext cx="31242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8863" y="3038475"/>
              <a:ext cx="18942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Cloudflare Worker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286000" y="3352800"/>
              <a:ext cx="1" cy="2095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3900" y="3657600"/>
              <a:ext cx="3124200" cy="457200"/>
            </a:xfrm>
            <a:prstGeom prst="roundRect">
              <a:avLst>
                <a:gd name="adj" fmla="val 29167"/>
              </a:avLst>
            </a:prstGeom>
            <a:solidFill>
              <a:srgbClr val="E7EDE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61906" y="3800475"/>
              <a:ext cx="1448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Profile Engine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286000" y="4114800"/>
              <a:ext cx="1" cy="2095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3900" y="4419600"/>
              <a:ext cx="3124200" cy="457200"/>
            </a:xfrm>
            <a:prstGeom prst="roundRect">
              <a:avLst>
                <a:gd name="adj" fmla="val 29167"/>
              </a:avLst>
            </a:prstGeom>
            <a:solidFill>
              <a:srgbClr val="E7EDE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4622" y="4562475"/>
              <a:ext cx="2382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Independent Planners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286000" y="4876800"/>
              <a:ext cx="1" cy="2095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" y="5181600"/>
              <a:ext cx="3124200" cy="457200"/>
            </a:xfrm>
            <a:prstGeom prst="roundRect">
              <a:avLst>
                <a:gd name="adj" fmla="val 29167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4633" y="5324475"/>
              <a:ext cx="2822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Decision + D1 Version State</a:t>
              </a:r>
            </a:p>
          </p:txBody>
        </p:sp>
      </p:grpSp>
      <p:grpSp>
        <p:nvGrpSpPr>
          <p:cNvPr id="32" name="engineering-proof"/>
          <p:cNvGrpSpPr/>
          <p:nvPr/>
        </p:nvGrpSpPr>
        <p:grpSpPr>
          <a:xfrm>
            <a:off x="5314950" y="1762125"/>
            <a:ext cx="6191250" cy="3432048"/>
            <a:chOff x="5314950" y="1762125"/>
            <a:chExt cx="6191250" cy="3432048"/>
          </a:xfrm>
        </p:grpSpPr>
        <p:sp>
          <p:nvSpPr>
            <p:cNvPr id="22" name="TextBox 22"/>
            <p:cNvSpPr txBox="1"/>
            <p:nvPr/>
          </p:nvSpPr>
          <p:spPr>
            <a:xfrm>
              <a:off x="53263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工程证明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4950" y="2312670"/>
              <a:ext cx="259514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56 / 56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6380" y="3114675"/>
              <a:ext cx="4009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regression tests · 仓库当前 README 记录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334000" y="3638550"/>
              <a:ext cx="6172200" cy="9525"/>
            </a:xfrm>
            <a:custGeom>
              <a:avLst/>
              <a:gdLst/>
              <a:ahLst/>
              <a:cxnLst/>
              <a:rect l="l" t="t" r="r" b="b"/>
              <a:pathLst>
                <a:path w="6172200" h="9525">
                  <a:moveTo>
                    <a:pt x="0" y="0"/>
                  </a:moveTo>
                  <a:lnTo>
                    <a:pt x="61722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23332" y="383095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模型密钥不在前端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4880" y="3895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真实后端调用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23332" y="43072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结构与业务双重校验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64880" y="43719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输出不是裸文本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3332" y="478345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有效规划不足两份，停止综合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8380" y="4848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失败不伪造</a:t>
              </a:r>
            </a:p>
          </p:txBody>
        </p:sp>
      </p:grpSp>
      <p:grpSp>
        <p:nvGrpSpPr>
          <p:cNvPr id="36" name="next-stage"/>
          <p:cNvGrpSpPr/>
          <p:nvPr/>
        </p:nvGrpSpPr>
        <p:grpSpPr>
          <a:xfrm>
            <a:off x="5334000" y="5810250"/>
            <a:ext cx="6172200" cy="685800"/>
            <a:chOff x="5334000" y="5810250"/>
            <a:chExt cx="6172200" cy="685800"/>
          </a:xfrm>
        </p:grpSpPr>
        <p:sp>
          <p:nvSpPr>
            <p:cNvPr id="33" name="Rectangle 33"/>
            <p:cNvSpPr/>
            <p:nvPr/>
          </p:nvSpPr>
          <p:spPr>
            <a:xfrm>
              <a:off x="5334000" y="5810250"/>
              <a:ext cx="6172200" cy="685800"/>
            </a:xfrm>
            <a:prstGeom prst="roundRect">
              <a:avLst>
                <a:gd name="adj" fmla="val 1944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55245" y="5934075"/>
              <a:ext cx="3929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当前阶段：可运行 MVP，进入目标用户验证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13932" y="623316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先验证个人用户闭环，再探索学校生涯教育与就业指导场景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518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closing-statement"/>
          <p:cNvGrpSpPr/>
          <p:nvPr/>
        </p:nvGrpSpPr>
        <p:grpSpPr>
          <a:xfrm>
            <a:off x="666750" y="938212"/>
            <a:ext cx="4705350" cy="2999995"/>
            <a:chOff x="666750" y="938212"/>
            <a:chExt cx="4705350" cy="299999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938212"/>
              <a:ext cx="4705350" cy="18383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zh-CN" sz="5250" b="1" dirty="0">
                  <a:solidFill>
                    <a:srgbClr val="FCFCFA"/>
                  </a:solidFill>
                  <a:latin typeface="+mj-lt"/>
                  <a:ea typeface="+mj-ea"/>
                  <a:cs typeface="+mj-cs"/>
                </a:rPr>
                <a:t>我们不替年轻人</a:t>
              </a:r>
              <a:br/>
              <a:r>
                <a:rPr lang="zh-CN" sz="5250" b="1" dirty="0">
                  <a:solidFill>
                    <a:srgbClr val="FCFCFA"/>
                  </a:solidFill>
                  <a:latin typeface="+mj-lt"/>
                  <a:ea typeface="+mj-ea"/>
                  <a:cs typeface="+mj-cs"/>
                </a:rPr>
                <a:t>决定人生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10946" y="3039428"/>
              <a:ext cx="43784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我们希望他们每一次选择，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10946" y="3439478"/>
              <a:ext cx="36530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都比上一次更有依据。</a:t>
              </a:r>
            </a:p>
          </p:txBody>
        </p:sp>
      </p:grpSp>
      <p:grpSp>
        <p:nvGrpSpPr>
          <p:cNvPr id="16" name="resolved-route"/>
          <p:cNvGrpSpPr/>
          <p:nvPr/>
        </p:nvGrpSpPr>
        <p:grpSpPr>
          <a:xfrm>
            <a:off x="6781800" y="1266825"/>
            <a:ext cx="4648200" cy="4600575"/>
            <a:chOff x="6781800" y="1266825"/>
            <a:chExt cx="4648200" cy="4600575"/>
          </a:xfrm>
        </p:grpSpPr>
        <p:sp>
          <p:nvSpPr>
            <p:cNvPr id="6" name="Freeform 6"/>
            <p:cNvSpPr/>
            <p:nvPr/>
          </p:nvSpPr>
          <p:spPr>
            <a:xfrm>
              <a:off x="6972300" y="1466850"/>
              <a:ext cx="2971800" cy="3714750"/>
            </a:xfrm>
            <a:custGeom>
              <a:avLst/>
              <a:gdLst/>
              <a:ahLst/>
              <a:cxnLst/>
              <a:rect l="l" t="t" r="r" b="b"/>
              <a:pathLst>
                <a:path w="2971800" h="3714750">
                  <a:moveTo>
                    <a:pt x="0" y="3714750"/>
                  </a:moveTo>
                  <a:cubicBezTo>
                    <a:pt x="742950" y="3352800"/>
                    <a:pt x="1143000" y="2933700"/>
                    <a:pt x="1619250" y="2286000"/>
                  </a:cubicBezTo>
                  <a:cubicBezTo>
                    <a:pt x="2057400" y="1695450"/>
                    <a:pt x="2457450" y="914400"/>
                    <a:pt x="2971800" y="0"/>
                  </a:cubicBezTo>
                </a:path>
              </a:pathLst>
            </a:custGeom>
            <a:noFill/>
            <a:ln w="66675">
              <a:solidFill>
                <a:schemeClr val="accent3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591550" y="3752850"/>
              <a:ext cx="2647950" cy="1047750"/>
            </a:xfrm>
            <a:custGeom>
              <a:avLst/>
              <a:gdLst/>
              <a:ahLst/>
              <a:cxnLst/>
              <a:rect l="l" t="t" r="r" b="b"/>
              <a:pathLst>
                <a:path w="2647950" h="1047750">
                  <a:moveTo>
                    <a:pt x="0" y="0"/>
                  </a:moveTo>
                  <a:cubicBezTo>
                    <a:pt x="800100" y="152400"/>
                    <a:pt x="1638300" y="514350"/>
                    <a:pt x="2647950" y="10477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custDash>
                <a:ds d="266667" sp="266667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8858250" y="1733550"/>
              <a:ext cx="2324100" cy="1657350"/>
            </a:xfrm>
            <a:custGeom>
              <a:avLst/>
              <a:gdLst/>
              <a:ahLst/>
              <a:cxnLst/>
              <a:rect l="l" t="t" r="r" b="b"/>
              <a:pathLst>
                <a:path w="2324100" h="1657350">
                  <a:moveTo>
                    <a:pt x="0" y="1657350"/>
                  </a:moveTo>
                  <a:cubicBezTo>
                    <a:pt x="800100" y="1257300"/>
                    <a:pt x="1466850" y="742950"/>
                    <a:pt x="2324100" y="0"/>
                  </a:cubicBezTo>
                </a:path>
              </a:pathLst>
            </a:custGeom>
            <a:noFill/>
            <a:ln w="28575">
              <a:solidFill>
                <a:srgbClr val="646A65"/>
              </a:solidFill>
              <a:custDash>
                <a:ds d="266667" sp="266667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6781800" y="5334000"/>
              <a:ext cx="4648200" cy="533400"/>
            </a:xfrm>
            <a:custGeom>
              <a:avLst/>
              <a:gdLst/>
              <a:ahLst/>
              <a:cxnLst/>
              <a:rect l="l" t="t" r="r" b="b"/>
              <a:pathLst>
                <a:path w="4648200" h="533400">
                  <a:moveTo>
                    <a:pt x="0" y="209550"/>
                  </a:moveTo>
                  <a:cubicBezTo>
                    <a:pt x="1009650" y="533400"/>
                    <a:pt x="2457450" y="533400"/>
                    <a:pt x="4648200" y="0"/>
                  </a:cubicBezTo>
                </a:path>
              </a:pathLst>
            </a:custGeom>
            <a:noFill/>
            <a:ln w="19050">
              <a:solidFill>
                <a:srgbClr val="646A65">
                  <a:alpha val="40000"/>
                </a:srgb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838950" y="50482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77250" y="36385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810750" y="13335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153775" y="47148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096625" y="1647825"/>
              <a:ext cx="171450" cy="171450"/>
            </a:xfrm>
            <a:prstGeom prst="ellipse">
              <a:avLst/>
            </a:prstGeom>
            <a:solidFill>
              <a:srgbClr val="646A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65080" y="1266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下一坐标</a:t>
              </a:r>
            </a:p>
          </p:txBody>
        </p:sp>
      </p:grpSp>
      <p:grpSp>
        <p:nvGrpSpPr>
          <p:cNvPr id="20" name="closing-tagline"/>
          <p:cNvGrpSpPr/>
          <p:nvPr/>
        </p:nvGrpSpPr>
        <p:grpSpPr>
          <a:xfrm>
            <a:off x="675132" y="4762500"/>
            <a:ext cx="4258818" cy="1064895"/>
            <a:chOff x="675132" y="4762500"/>
            <a:chExt cx="4258818" cy="1064895"/>
          </a:xfrm>
        </p:grpSpPr>
        <p:sp>
          <p:nvSpPr>
            <p:cNvPr id="17" name="Line 17"/>
            <p:cNvSpPr/>
            <p:nvPr/>
          </p:nvSpPr>
          <p:spPr>
            <a:xfrm>
              <a:off x="685800" y="4762500"/>
              <a:ext cx="3028950" cy="9525"/>
            </a:xfrm>
            <a:custGeom>
              <a:avLst/>
              <a:gdLst/>
              <a:ahLst/>
              <a:cxnLst/>
              <a:rect l="l" t="t" r="r" b="b"/>
              <a:pathLst>
                <a:path w="3028950" h="9525">
                  <a:moveTo>
                    <a:pt x="0" y="0"/>
                  </a:moveTo>
                  <a:lnTo>
                    <a:pt x="30289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132" y="50501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CFCFA"/>
                  </a:solidFill>
                  <a:latin typeface="+mn-lt"/>
                  <a:ea typeface="+mn-ea"/>
                  <a:cs typeface="+mn-cs"/>
                </a:rPr>
                <a:t>人生坐标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180" y="55340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从真实处境出发，找到一个可以验证的下一步。</a:t>
              </a:r>
            </a:p>
          </p:txBody>
        </p:sp>
      </p:grpSp>
      <p:grpSp>
        <p:nvGrpSpPr>
          <p:cNvPr id="21" name="team-credit"/>
          <p:cNvGrpSpPr/>
          <p:nvPr/>
        </p:nvGrpSpPr>
        <p:grpSpPr>
          <a:xfrm>
            <a:off x="678942" y="6064568"/>
            <a:ext cx="2376297" cy="536638"/>
            <a:chOff x="678942" y="6064568"/>
            <a:chExt cx="2376297" cy="536638"/>
          </a:xfrm>
        </p:grpSpPr>
        <p:sp>
          <p:nvSpPr>
            <p:cNvPr id="22" name="TextBox 6"/>
            <p:cNvSpPr txBox="1"/>
            <p:nvPr/>
          </p:nvSpPr>
          <p:spPr>
            <a:xfrm>
              <a:off x="678942" y="606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9FB9A5"/>
                  </a:solidFill>
                  <a:latin typeface="Arial"/>
                  <a:ea typeface="Microsoft YaHei"/>
                  <a:cs typeface="Arial"/>
                </a:rPr>
                <a:t>队伍：老登与小登的奇妙之旅</a:t>
              </a:r>
            </a:p>
          </p:txBody>
        </p:sp>
        <p:sp>
          <p:nvSpPr>
            <p:cNvPr id="23" name="TextBox 7"/>
            <p:cNvSpPr txBox="1"/>
            <p:nvPr/>
          </p:nvSpPr>
          <p:spPr>
            <a:xfrm>
              <a:off x="679704" y="636651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7D4CA"/>
                  </a:solidFill>
                  <a:latin typeface="Arial"/>
                  <a:ea typeface="Microsoft YaHei"/>
                  <a:cs typeface="Arial"/>
                </a:rPr>
                <a:t>队长：房刚毅　·　队员：李喜军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ife-coordinate-roadshow">
  <a:themeElements>
    <a:clrScheme name="life-coordinate-roadshow">
      <a:dk1>
        <a:srgbClr val="151817"/>
      </a:dk1>
      <a:lt1>
        <a:srgbClr val="F6F4EE"/>
      </a:lt1>
      <a:dk2>
        <a:srgbClr val="1F497D"/>
      </a:dk2>
      <a:lt2>
        <a:srgbClr val="FCFCFA"/>
      </a:lt2>
      <a:accent1>
        <a:srgbClr val="758B78"/>
      </a:accent1>
      <a:accent2>
        <a:srgbClr val="CBAA69"/>
      </a:accent2>
      <a:accent3>
        <a:srgbClr val="9FB9A5"/>
      </a:accent3>
      <a:accent4>
        <a:srgbClr val="758B78"/>
      </a:accent4>
      <a:accent5>
        <a:srgbClr val="646A65"/>
      </a:accent5>
      <a:accent6>
        <a:srgbClr val="D7D4CA"/>
      </a:accent6>
      <a:hlink>
        <a:srgbClr val="CBAA69"/>
      </a:hlink>
      <a:folHlink>
        <a:srgbClr val="9FB9A5"/>
      </a:folHlink>
    </a:clrScheme>
    <a:fontScheme name="life-coordinate-roadshow">
      <a:majorFont>
        <a:latin typeface="Arial"/>
        <a:ea typeface="FangSong"/>
        <a:cs typeface="Arial"/>
        <a:font script="Jpan" typeface="FangSong"/>
        <a:font script="Hang" typeface="FangSong"/>
        <a:font script="Hans" typeface="FangSong"/>
        <a:font script="Hant" typeface="FangSong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fe-coordinate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ife-coordinate-roadshow">
  <a:themeElements>
    <a:clrScheme name="life-coordinate-roadshow">
      <a:dk1>
        <a:srgbClr val="151817"/>
      </a:dk1>
      <a:lt1>
        <a:srgbClr val="F6F4EE"/>
      </a:lt1>
      <a:dk2>
        <a:srgbClr val="1F497D"/>
      </a:dk2>
      <a:lt2>
        <a:srgbClr val="FCFCFA"/>
      </a:lt2>
      <a:accent1>
        <a:srgbClr val="758B78"/>
      </a:accent1>
      <a:accent2>
        <a:srgbClr val="CBAA69"/>
      </a:accent2>
      <a:accent3>
        <a:srgbClr val="9FB9A5"/>
      </a:accent3>
      <a:accent4>
        <a:srgbClr val="758B78"/>
      </a:accent4>
      <a:accent5>
        <a:srgbClr val="646A65"/>
      </a:accent5>
      <a:accent6>
        <a:srgbClr val="D7D4CA"/>
      </a:accent6>
      <a:hlink>
        <a:srgbClr val="CBAA69"/>
      </a:hlink>
      <a:folHlink>
        <a:srgbClr val="9FB9A5"/>
      </a:folHlink>
    </a:clrScheme>
    <a:fontScheme name="life-coordinate-roadshow">
      <a:majorFont>
        <a:latin typeface="Arial"/>
        <a:ea typeface="FangSong"/>
        <a:cs typeface="Arial"/>
        <a:font script="Jpan" typeface="FangSong"/>
        <a:font script="Hang" typeface="FangSong"/>
        <a:font script="Hans" typeface="FangSong"/>
        <a:font script="Hant" typeface="FangSong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fe-coordinate-roadsho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2026-10-03T10:38:31Z</dcterms:created>
  <dcterms:modified xsi:type="dcterms:W3CDTF">2026-10-03T10:38:31Z</dcterms:modified>
  <cp:category/>
  <cp:contentStatus/>
</cp:coreProperties>
</file>